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de Parcela (R$M)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C4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Out/22</c:v>
                </c:pt>
                <c:pt idx="1">
                  <c:v>Nov/22</c:v>
                </c:pt>
                <c:pt idx="2">
                  <c:v>Dez/22</c:v>
                </c:pt>
                <c:pt idx="3">
                  <c:v>Jan/23</c:v>
                </c:pt>
                <c:pt idx="4">
                  <c:v>Fev/23</c:v>
                </c:pt>
                <c:pt idx="5">
                  <c:v>Mar/23</c:v>
                </c:pt>
                <c:pt idx="6">
                  <c:v>Abr/23</c:v>
                </c:pt>
                <c:pt idx="7">
                  <c:v>Mai/23</c:v>
                </c:pt>
                <c:pt idx="8">
                  <c:v>Jun/23</c:v>
                </c:pt>
                <c:pt idx="9">
                  <c:v>Jul/23</c:v>
                </c:pt>
                <c:pt idx="10">
                  <c:v>Ago/23</c:v>
                </c:pt>
                <c:pt idx="11">
                  <c:v>Set/23</c:v>
                </c:pt>
                <c:pt idx="12">
                  <c:v>Out/23</c:v>
                </c:pt>
                <c:pt idx="13">
                  <c:v>Nov/23</c:v>
                </c:pt>
                <c:pt idx="14">
                  <c:v>Dez/23</c:v>
                </c:pt>
                <c:pt idx="15">
                  <c:v>Jan/24</c:v>
                </c:pt>
                <c:pt idx="16">
                  <c:v>Fev/24</c:v>
                </c:pt>
                <c:pt idx="17">
                  <c:v>Mar/24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1.76</c:v>
                </c:pt>
                <c:pt idx="1">
                  <c:v>4.99</c:v>
                </c:pt>
                <c:pt idx="2">
                  <c:v>5.81</c:v>
                </c:pt>
                <c:pt idx="3">
                  <c:v>12.69</c:v>
                </c:pt>
                <c:pt idx="4">
                  <c:v>10.029999999999999</c:v>
                </c:pt>
                <c:pt idx="5">
                  <c:v>5.87</c:v>
                </c:pt>
                <c:pt idx="6">
                  <c:v>6.67</c:v>
                </c:pt>
                <c:pt idx="7">
                  <c:v>12.31</c:v>
                </c:pt>
                <c:pt idx="8">
                  <c:v>2.25</c:v>
                </c:pt>
                <c:pt idx="9">
                  <c:v>0.97</c:v>
                </c:pt>
                <c:pt idx="10">
                  <c:v>0.3</c:v>
                </c:pt>
                <c:pt idx="11">
                  <c:v>2.76</c:v>
                </c:pt>
                <c:pt idx="12">
                  <c:v>9.5500000000000007</c:v>
                </c:pt>
                <c:pt idx="13">
                  <c:v>7.85</c:v>
                </c:pt>
                <c:pt idx="14">
                  <c:v>3.85</c:v>
                </c:pt>
                <c:pt idx="15">
                  <c:v>3.99</c:v>
                </c:pt>
                <c:pt idx="16">
                  <c:v>4.72</c:v>
                </c:pt>
                <c:pt idx="17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F4-4259-B597-FA779697FD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89-4C17-A1A0-05812DD583B4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89-4C17-A1A0-05812DD583B4}"/>
              </c:ext>
            </c:extLst>
          </c:dPt>
          <c:dPt>
            <c:idx val="2"/>
            <c:bubble3D val="0"/>
            <c:spPr>
              <a:solidFill>
                <a:srgbClr val="C997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89-4C17-A1A0-05812DD583B4}"/>
              </c:ext>
            </c:extLst>
          </c:dPt>
          <c:dPt>
            <c:idx val="3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89-4C17-A1A0-05812DD583B4}"/>
              </c:ext>
            </c:extLst>
          </c:dPt>
          <c:dPt>
            <c:idx val="4"/>
            <c:bubble3D val="0"/>
            <c:spPr>
              <a:solidFill>
                <a:srgbClr val="5A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289-4C17-A1A0-05812DD583B4}"/>
              </c:ext>
            </c:extLst>
          </c:dPt>
          <c:dPt>
            <c:idx val="5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289-4C17-A1A0-05812DD583B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289-4C17-A1A0-05812DD583B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289-4C17-A1A0-05812DD583B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289-4C17-A1A0-05812DD583B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289-4C17-A1A0-05812DD583B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289-4C17-A1A0-05812DD583B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289-4C17-A1A0-05812DD583B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Conv. 2</c:v>
                </c:pt>
                <c:pt idx="1">
                  <c:v>Conv. 3</c:v>
                </c:pt>
                <c:pt idx="2">
                  <c:v>Conv. 4</c:v>
                </c:pt>
                <c:pt idx="3">
                  <c:v>Conv. 11</c:v>
                </c:pt>
                <c:pt idx="4">
                  <c:v>Conv. 8</c:v>
                </c:pt>
                <c:pt idx="5">
                  <c:v>Demais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28.3</c:v>
                </c:pt>
                <c:pt idx="1">
                  <c:v>26.6</c:v>
                </c:pt>
                <c:pt idx="2">
                  <c:v>13.3</c:v>
                </c:pt>
                <c:pt idx="3">
                  <c:v>9.1</c:v>
                </c:pt>
                <c:pt idx="4">
                  <c:v>8.6999999999999993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289-4C17-A1A0-05812DD583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Mensal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 i="0" u="none" strike="noStrike">
                    <a:solidFill>
                      <a:srgbClr val="1A2C4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Conv. 3</c:v>
                </c:pt>
                <c:pt idx="1">
                  <c:v>Conv. 4</c:v>
                </c:pt>
                <c:pt idx="2">
                  <c:v>Conv. 2</c:v>
                </c:pt>
                <c:pt idx="3">
                  <c:v>Conv. 6</c:v>
                </c:pt>
                <c:pt idx="4">
                  <c:v>Conv. 10</c:v>
                </c:pt>
                <c:pt idx="5">
                  <c:v>Conv. 5</c:v>
                </c:pt>
                <c:pt idx="6">
                  <c:v>Conv. 8</c:v>
                </c:pt>
                <c:pt idx="7">
                  <c:v>Conv. 11</c:v>
                </c:pt>
                <c:pt idx="8">
                  <c:v>Conv. 7</c:v>
                </c:pt>
                <c:pt idx="9">
                  <c:v>Conv. 1</c:v>
                </c:pt>
                <c:pt idx="10">
                  <c:v>Conv. 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1.9</c:v>
                </c:pt>
                <c:pt idx="1">
                  <c:v>1.86</c:v>
                </c:pt>
                <c:pt idx="2">
                  <c:v>1.85</c:v>
                </c:pt>
                <c:pt idx="3">
                  <c:v>1.84</c:v>
                </c:pt>
                <c:pt idx="4">
                  <c:v>1.84</c:v>
                </c:pt>
                <c:pt idx="5">
                  <c:v>1.82</c:v>
                </c:pt>
                <c:pt idx="6">
                  <c:v>1.82</c:v>
                </c:pt>
                <c:pt idx="7">
                  <c:v>1.79</c:v>
                </c:pt>
                <c:pt idx="8">
                  <c:v>1.71</c:v>
                </c:pt>
                <c:pt idx="9">
                  <c:v>1.7</c:v>
                </c:pt>
                <c:pt idx="10">
                  <c:v>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06-4A2F-ADDB-3DC136904B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Cash (%)</c:v>
                </c:pt>
              </c:strCache>
            </c:strRef>
          </c:tx>
          <c:spPr>
            <a:ln w="31750" cap="flat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2C4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Jan/25</c:v>
                </c:pt>
                <c:pt idx="1">
                  <c:v>Fev/25</c:v>
                </c:pt>
                <c:pt idx="2">
                  <c:v>Mar/25</c:v>
                </c:pt>
                <c:pt idx="3">
                  <c:v>Abr/25</c:v>
                </c:pt>
                <c:pt idx="4">
                  <c:v>Mai/25</c:v>
                </c:pt>
                <c:pt idx="5">
                  <c:v>Jun/25</c:v>
                </c:pt>
                <c:pt idx="6">
                  <c:v>Jul/25</c:v>
                </c:pt>
                <c:pt idx="7">
                  <c:v>Ago/25</c:v>
                </c:pt>
                <c:pt idx="8">
                  <c:v>Set/25</c:v>
                </c:pt>
                <c:pt idx="9">
                  <c:v>Out/25</c:v>
                </c:pt>
                <c:pt idx="10">
                  <c:v>Nov/25</c:v>
                </c:pt>
                <c:pt idx="11">
                  <c:v>Dez/25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8.5</c:v>
                </c:pt>
                <c:pt idx="1">
                  <c:v>9.1</c:v>
                </c:pt>
                <c:pt idx="2">
                  <c:v>9.8000000000000007</c:v>
                </c:pt>
                <c:pt idx="3">
                  <c:v>10.199999999999999</c:v>
                </c:pt>
                <c:pt idx="4">
                  <c:v>10.4</c:v>
                </c:pt>
                <c:pt idx="5">
                  <c:v>10.199999999999999</c:v>
                </c:pt>
                <c:pt idx="6">
                  <c:v>11.4</c:v>
                </c:pt>
                <c:pt idx="7">
                  <c:v>35.799999999999997</c:v>
                </c:pt>
                <c:pt idx="8">
                  <c:v>35.200000000000003</c:v>
                </c:pt>
                <c:pt idx="9">
                  <c:v>34.5</c:v>
                </c:pt>
                <c:pt idx="10">
                  <c:v>34.6</c:v>
                </c:pt>
                <c:pt idx="11">
                  <c:v>34.799999999999997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05-4F03-B4B6-53E22A140B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Inad. Cash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C4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Out/22</c:v>
                </c:pt>
                <c:pt idx="1">
                  <c:v>Nov/22</c:v>
                </c:pt>
                <c:pt idx="2">
                  <c:v>Dez/22</c:v>
                </c:pt>
                <c:pt idx="3">
                  <c:v>Jan/23</c:v>
                </c:pt>
                <c:pt idx="4">
                  <c:v>Fev/23</c:v>
                </c:pt>
                <c:pt idx="5">
                  <c:v>Mar/23</c:v>
                </c:pt>
                <c:pt idx="6">
                  <c:v>Abr/23</c:v>
                </c:pt>
                <c:pt idx="7">
                  <c:v>Mai/23</c:v>
                </c:pt>
                <c:pt idx="8">
                  <c:v>Jun/23</c:v>
                </c:pt>
                <c:pt idx="9">
                  <c:v>Set/23</c:v>
                </c:pt>
                <c:pt idx="10">
                  <c:v>Out/23</c:v>
                </c:pt>
                <c:pt idx="11">
                  <c:v>Nov/23</c:v>
                </c:pt>
                <c:pt idx="12">
                  <c:v>Dez/23</c:v>
                </c:pt>
                <c:pt idx="13">
                  <c:v>Jan/24</c:v>
                </c:pt>
                <c:pt idx="14">
                  <c:v>Fev/24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19.7</c:v>
                </c:pt>
                <c:pt idx="1">
                  <c:v>10.1</c:v>
                </c:pt>
                <c:pt idx="2">
                  <c:v>10.5</c:v>
                </c:pt>
                <c:pt idx="3">
                  <c:v>10.7</c:v>
                </c:pt>
                <c:pt idx="4">
                  <c:v>11.6</c:v>
                </c:pt>
                <c:pt idx="5">
                  <c:v>16.399999999999999</c:v>
                </c:pt>
                <c:pt idx="6">
                  <c:v>11</c:v>
                </c:pt>
                <c:pt idx="7">
                  <c:v>10.5</c:v>
                </c:pt>
                <c:pt idx="8">
                  <c:v>11.9</c:v>
                </c:pt>
                <c:pt idx="9">
                  <c:v>10</c:v>
                </c:pt>
                <c:pt idx="10">
                  <c:v>6.8</c:v>
                </c:pt>
                <c:pt idx="11">
                  <c:v>11</c:v>
                </c:pt>
                <c:pt idx="12">
                  <c:v>9.1</c:v>
                </c:pt>
                <c:pt idx="13">
                  <c:v>15</c:v>
                </c:pt>
                <c:pt idx="14">
                  <c:v>15.4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DA-4CF8-843C-ABA1C0CF14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Média (% a.m.)</c:v>
                </c:pt>
              </c:strCache>
            </c:strRef>
          </c:tx>
          <c:spPr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Out/22</c:v>
                </c:pt>
                <c:pt idx="1">
                  <c:v>Nov/22</c:v>
                </c:pt>
                <c:pt idx="2">
                  <c:v>Dez/22</c:v>
                </c:pt>
                <c:pt idx="3">
                  <c:v>Jan/23</c:v>
                </c:pt>
                <c:pt idx="4">
                  <c:v>Fev/23</c:v>
                </c:pt>
                <c:pt idx="5">
                  <c:v>Mar/23</c:v>
                </c:pt>
                <c:pt idx="6">
                  <c:v>Abr/23</c:v>
                </c:pt>
                <c:pt idx="7">
                  <c:v>Mai/23</c:v>
                </c:pt>
                <c:pt idx="8">
                  <c:v>Jun/23</c:v>
                </c:pt>
                <c:pt idx="9">
                  <c:v>Set/23</c:v>
                </c:pt>
                <c:pt idx="10">
                  <c:v>Out/23</c:v>
                </c:pt>
                <c:pt idx="11">
                  <c:v>Nov/23</c:v>
                </c:pt>
                <c:pt idx="12">
                  <c:v>Dez/23</c:v>
                </c:pt>
                <c:pt idx="13">
                  <c:v>Jan/24</c:v>
                </c:pt>
                <c:pt idx="14">
                  <c:v>Fev/24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2.0299999999999998</c:v>
                </c:pt>
                <c:pt idx="1">
                  <c:v>1.77</c:v>
                </c:pt>
                <c:pt idx="2">
                  <c:v>1.98</c:v>
                </c:pt>
                <c:pt idx="3">
                  <c:v>1.87</c:v>
                </c:pt>
                <c:pt idx="4">
                  <c:v>1.89</c:v>
                </c:pt>
                <c:pt idx="5">
                  <c:v>1.91</c:v>
                </c:pt>
                <c:pt idx="6">
                  <c:v>1.9</c:v>
                </c:pt>
                <c:pt idx="7">
                  <c:v>1.87</c:v>
                </c:pt>
                <c:pt idx="8">
                  <c:v>1.9</c:v>
                </c:pt>
                <c:pt idx="9">
                  <c:v>1.76</c:v>
                </c:pt>
                <c:pt idx="10">
                  <c:v>1.75</c:v>
                </c:pt>
                <c:pt idx="11">
                  <c:v>1.77</c:v>
                </c:pt>
                <c:pt idx="12">
                  <c:v>1.8</c:v>
                </c:pt>
                <c:pt idx="13">
                  <c:v>1.82</c:v>
                </c:pt>
                <c:pt idx="14">
                  <c:v>1.68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9E-481B-9083-3922AE47D7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Inadimplência Cash (%)</c:v>
                </c:pt>
              </c:strCache>
            </c:strRef>
          </c:tx>
          <c:spPr>
            <a:ln w="31750" cap="flat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Out/22</c:v>
                </c:pt>
                <c:pt idx="1">
                  <c:v>Nov/22</c:v>
                </c:pt>
                <c:pt idx="2">
                  <c:v>Dez/22</c:v>
                </c:pt>
                <c:pt idx="3">
                  <c:v>Jan/23</c:v>
                </c:pt>
                <c:pt idx="4">
                  <c:v>Fev/23</c:v>
                </c:pt>
                <c:pt idx="5">
                  <c:v>Mar/23</c:v>
                </c:pt>
                <c:pt idx="6">
                  <c:v>Abr/23</c:v>
                </c:pt>
                <c:pt idx="7">
                  <c:v>Mai/23</c:v>
                </c:pt>
                <c:pt idx="8">
                  <c:v>Jun/23</c:v>
                </c:pt>
                <c:pt idx="9">
                  <c:v>Set/23</c:v>
                </c:pt>
                <c:pt idx="10">
                  <c:v>Out/23</c:v>
                </c:pt>
                <c:pt idx="11">
                  <c:v>Nov/23</c:v>
                </c:pt>
                <c:pt idx="12">
                  <c:v>Dez/23</c:v>
                </c:pt>
                <c:pt idx="13">
                  <c:v>Jan/24</c:v>
                </c:pt>
                <c:pt idx="14">
                  <c:v>Fev/24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19.7</c:v>
                </c:pt>
                <c:pt idx="1">
                  <c:v>10.1</c:v>
                </c:pt>
                <c:pt idx="2">
                  <c:v>10.5</c:v>
                </c:pt>
                <c:pt idx="3">
                  <c:v>10.7</c:v>
                </c:pt>
                <c:pt idx="4">
                  <c:v>11.6</c:v>
                </c:pt>
                <c:pt idx="5">
                  <c:v>16.399999999999999</c:v>
                </c:pt>
                <c:pt idx="6">
                  <c:v>11</c:v>
                </c:pt>
                <c:pt idx="7">
                  <c:v>10.5</c:v>
                </c:pt>
                <c:pt idx="8">
                  <c:v>11.9</c:v>
                </c:pt>
                <c:pt idx="9">
                  <c:v>10</c:v>
                </c:pt>
                <c:pt idx="10">
                  <c:v>6.8</c:v>
                </c:pt>
                <c:pt idx="11">
                  <c:v>11</c:v>
                </c:pt>
                <c:pt idx="12">
                  <c:v>9.1</c:v>
                </c:pt>
                <c:pt idx="13">
                  <c:v>15</c:v>
                </c:pt>
                <c:pt idx="14">
                  <c:v>15.4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69E-481B-9083-3922AE47D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 Negativo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.0;\-#.0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Conv. 3</c:v>
                </c:pt>
                <c:pt idx="1">
                  <c:v>Conv. 10</c:v>
                </c:pt>
                <c:pt idx="2">
                  <c:v>Conv. 2</c:v>
                </c:pt>
                <c:pt idx="3">
                  <c:v>Conv. 11</c:v>
                </c:pt>
                <c:pt idx="4">
                  <c:v>Conv. 6</c:v>
                </c:pt>
                <c:pt idx="5">
                  <c:v>Conv. 1</c:v>
                </c:pt>
                <c:pt idx="6">
                  <c:v>Conv. 8</c:v>
                </c:pt>
                <c:pt idx="7">
                  <c:v>Conv. 9</c:v>
                </c:pt>
                <c:pt idx="8">
                  <c:v>Conv. 4</c:v>
                </c:pt>
                <c:pt idx="9">
                  <c:v>Conv. 5</c:v>
                </c:pt>
                <c:pt idx="10">
                  <c:v>Conv. 7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-17.57</c:v>
                </c:pt>
                <c:pt idx="1">
                  <c:v>-17.04</c:v>
                </c:pt>
                <c:pt idx="2">
                  <c:v>-6.83</c:v>
                </c:pt>
                <c:pt idx="3">
                  <c:v>-5.51</c:v>
                </c:pt>
                <c:pt idx="4">
                  <c:v>-3.6</c:v>
                </c:pt>
                <c:pt idx="5">
                  <c:v>-2.59</c:v>
                </c:pt>
                <c:pt idx="6">
                  <c:v>-2.62</c:v>
                </c:pt>
                <c:pt idx="7">
                  <c:v>-2.23</c:v>
                </c:pt>
                <c:pt idx="8">
                  <c:v>-1.33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23-4357-B8D3-16A299BA5E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Spread Positivo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0</a:t>
                    </a:r>
                    <a:fld id="{6E601FBF-FF04-4993-91CD-E4900E506484}" type="VALUE">
                      <a:rPr lang="en-US" smtClean="0"/>
                      <a:pPr/>
                      <a:t>[VALOR]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423-4357-B8D3-16A299BA5E4B}"/>
                </c:ext>
              </c:extLst>
            </c:dLbl>
            <c:numFmt formatCode="#.0;\-#.0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Conv. 3</c:v>
                </c:pt>
                <c:pt idx="1">
                  <c:v>Conv. 10</c:v>
                </c:pt>
                <c:pt idx="2">
                  <c:v>Conv. 2</c:v>
                </c:pt>
                <c:pt idx="3">
                  <c:v>Conv. 11</c:v>
                </c:pt>
                <c:pt idx="4">
                  <c:v>Conv. 6</c:v>
                </c:pt>
                <c:pt idx="5">
                  <c:v>Conv. 1</c:v>
                </c:pt>
                <c:pt idx="6">
                  <c:v>Conv. 8</c:v>
                </c:pt>
                <c:pt idx="7">
                  <c:v>Conv. 9</c:v>
                </c:pt>
                <c:pt idx="8">
                  <c:v>Conv. 4</c:v>
                </c:pt>
                <c:pt idx="9">
                  <c:v>Conv. 5</c:v>
                </c:pt>
                <c:pt idx="10">
                  <c:v>Conv. 7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0.57999999999999996</c:v>
                </c:pt>
                <c:pt idx="10">
                  <c:v>1.44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23-4357-B8D3-16A299BA5E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-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41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20040" y="2534919"/>
            <a:ext cx="8503920" cy="18288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kern="0" spc="400" dirty="0">
                <a:solidFill>
                  <a:srgbClr val="C9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Dados</a:t>
            </a:r>
            <a:endParaRPr lang="en-US" sz="1100" i="1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Estratégico de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 Risco de Crédito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2192865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Safra, Rentabilidade e Inadimplência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Carteira de Crédito Pessoal Consignado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2011680" cy="822960"/>
          </a:xfrm>
          <a:prstGeom prst="rect">
            <a:avLst/>
          </a:prstGeom>
          <a:solidFill>
            <a:srgbClr val="111E3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de Janeiro de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Data-Base da Análise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2834640"/>
            <a:ext cx="2011680" cy="822960"/>
          </a:xfrm>
          <a:prstGeom prst="rect">
            <a:avLst/>
          </a:prstGeom>
          <a:solidFill>
            <a:srgbClr val="111E3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R$ 99,3 Milhões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Total de Parcelas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2834640"/>
            <a:ext cx="2011680" cy="822960"/>
          </a:xfrm>
          <a:prstGeom prst="rect">
            <a:avLst/>
          </a:prstGeom>
          <a:solidFill>
            <a:srgbClr val="111E3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0916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Grupos de Risco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Convênios Monitorados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66560" y="2834640"/>
            <a:ext cx="2011680" cy="822960"/>
          </a:xfrm>
          <a:prstGeom prst="rect">
            <a:avLst/>
          </a:prstGeom>
          <a:solidFill>
            <a:srgbClr val="111E3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Contratos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218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Analisados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38862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Modelo e Simulação — Sujeito a alterações; Não utilizar como base.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E36"/>
          </a:solidFill>
          <a:ln w="12700">
            <a:solidFill>
              <a:srgbClr val="111E36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Carteira e Principais Achados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93776" y="1097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R$ 99,3M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93776" y="15727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Parcelas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3776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value total da carteira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10058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505456" y="1097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R$ 45,2M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05456" y="15727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Alocado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05456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aquisição das parcelas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10058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389120" y="1005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17136" y="1097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R$ 71,5M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17136" y="15727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Presente (VP)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17136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Descontado a 31/01/2026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0" y="100584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400800" y="1005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28816" y="1097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1,84% a.m.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28816" y="15727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 Ponderada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28816" y="17830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Pond. pelo valor de aquisição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1488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65760" y="2148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3776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3776" y="27157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Cash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" y="2926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 carteira vencida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77440" y="21488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2377440" y="2148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505456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505456" y="27157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Convênios Ativos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05456" y="2926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risco monitorados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0" y="21488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389120" y="2148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517136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517136" y="27157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17136" y="2926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Out/2022 a Mar/2024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0800" y="214884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400800" y="2148840"/>
            <a:ext cx="54864" cy="100584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528816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528816" y="27157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Inadimplência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28816" y="29260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venc. Ago–Dez/2025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273552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365760" y="3273552"/>
            <a:ext cx="8412480" cy="54864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02920" y="33649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ACHADOS DA ANÁLISE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363016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risco: Convênios 2 e 3 respondem por 54,9% do volume total — risco de concentração acima do threshold de mercado.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405079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negativo: Conv. 3 (inad. 19,5%) e Conv. 10 (inad. 18,9%) superam a taxa de 1,84% a.m., destruindo valor no fundo.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363016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Deterioração acelerada: parcelas com vencimento Ago–Dez/2025 registram inadimplência acima de 34% — sinal de crise sistêmica.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63440" y="405079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problema: safras de Jan–Fev/2024 com inadimplência de 15%, indicando degradação no processo de originação.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DISTRIBUIÇÃO DA CARTEIRA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Parcela por Mês de Aquisição (R$ Milhões)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0058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309360" y="10972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VINTAGE (SAFRAS)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309360" y="1389888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originação em Jan/23 (R$ 12,7M) e Mai/23 (R$ 12,3M) — os meses de maior risco acumulado na carteira.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09360" y="2160270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Retração no 2º sem. 2023 (Jun–Ago), com retomada em Out/23 — padrão consistente com sazonalidade do consignado.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30652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Safras Jan–Mar/2024 concentram risco em maturação: inadimplência de 15,0% e 15,4%, 40% acima da média histórica.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3701034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Focus (BCB): crédito consignado respondeu por 42% do estoque de crédito PF no período analisado.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E1BACC99-FC9E-D0CA-B445-8402F5842D76}"/>
              </a:ext>
            </a:extLst>
          </p:cNvPr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A08F552-F5BB-6003-A23C-D571720642C6}"/>
              </a:ext>
            </a:extLst>
          </p:cNvPr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DISTRIBUIÇÃO DA CARTEIRA</a:t>
            </a:r>
            <a:endParaRPr lang="en-US" sz="8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C3993C17-0E6E-EB84-9A3E-5F9C42FC36B4}"/>
              </a:ext>
            </a:extLst>
          </p:cNvPr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por Convênio e Valor Presente</a:t>
            </a:r>
            <a:endParaRPr lang="en-US" sz="2200" dirty="0"/>
          </a:p>
        </p:txBody>
      </p:sp>
      <p:graphicFrame>
        <p:nvGraphicFramePr>
          <p:cNvPr id="23" name="Chart 0">
            <a:extLst>
              <a:ext uri="{FF2B5EF4-FFF2-40B4-BE49-F238E27FC236}">
                <a16:creationId xmlns:a16="http://schemas.microsoft.com/office/drawing/2014/main" id="{85A81140-6184-BF0B-A29F-5E783ED0F622}"/>
              </a:ext>
            </a:extLst>
          </p:cNvPr>
          <p:cNvGraphicFramePr/>
          <p:nvPr/>
        </p:nvGraphicFramePr>
        <p:xfrm>
          <a:off x="365760" y="1005840"/>
          <a:ext cx="4754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3">
            <a:extLst>
              <a:ext uri="{FF2B5EF4-FFF2-40B4-BE49-F238E27FC236}">
                <a16:creationId xmlns:a16="http://schemas.microsoft.com/office/drawing/2014/main" id="{A065D395-2760-E94F-9C14-EF552F45B77B}"/>
              </a:ext>
            </a:extLst>
          </p:cNvPr>
          <p:cNvSpPr/>
          <p:nvPr/>
        </p:nvSpPr>
        <p:spPr>
          <a:xfrm>
            <a:off x="5257800" y="100584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F2B9BB4B-A9C7-A8AB-B85A-ED66A6CB3330}"/>
              </a:ext>
            </a:extLst>
          </p:cNvPr>
          <p:cNvSpPr/>
          <p:nvPr/>
        </p:nvSpPr>
        <p:spPr>
          <a:xfrm>
            <a:off x="5257800" y="1005840"/>
            <a:ext cx="54864" cy="91440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BD16C4BC-9931-C5A0-A4DC-70A0B3ED351C}"/>
              </a:ext>
            </a:extLst>
          </p:cNvPr>
          <p:cNvSpPr/>
          <p:nvPr/>
        </p:nvSpPr>
        <p:spPr>
          <a:xfrm>
            <a:off x="5385816" y="1097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R$ 71,5M</a:t>
            </a:r>
            <a:endParaRPr lang="en-US" sz="24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CAB4B54-5E72-910B-EB0F-4E8B5C4B60F6}"/>
              </a:ext>
            </a:extLst>
          </p:cNvPr>
          <p:cNvSpPr/>
          <p:nvPr/>
        </p:nvSpPr>
        <p:spPr>
          <a:xfrm>
            <a:off x="5385816" y="157276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Presente Total</a:t>
            </a:r>
            <a:endParaRPr lang="en-US" sz="95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BD398434-E913-8CD4-93A0-F2DD9D816F71}"/>
              </a:ext>
            </a:extLst>
          </p:cNvPr>
          <p:cNvSpPr/>
          <p:nvPr/>
        </p:nvSpPr>
        <p:spPr>
          <a:xfrm>
            <a:off x="5385816" y="178308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Descontado a 31/01/2026</a:t>
            </a:r>
            <a:endParaRPr lang="en-US" sz="8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E6BEAD51-155C-2B1C-D6B6-1751E5A61CF7}"/>
              </a:ext>
            </a:extLst>
          </p:cNvPr>
          <p:cNvSpPr/>
          <p:nvPr/>
        </p:nvSpPr>
        <p:spPr>
          <a:xfrm>
            <a:off x="5257800" y="2029968"/>
            <a:ext cx="352044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F086A9A1-2887-8C68-334C-C181099FAE98}"/>
              </a:ext>
            </a:extLst>
          </p:cNvPr>
          <p:cNvSpPr/>
          <p:nvPr/>
        </p:nvSpPr>
        <p:spPr>
          <a:xfrm>
            <a:off x="5257800" y="2029968"/>
            <a:ext cx="35204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440F4C5E-C253-AE5D-B702-6683C178234E}"/>
              </a:ext>
            </a:extLst>
          </p:cNvPr>
          <p:cNvSpPr/>
          <p:nvPr/>
        </p:nvSpPr>
        <p:spPr>
          <a:xfrm>
            <a:off x="5394960" y="212140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CONCENTRAÇÃO</a:t>
            </a:r>
            <a:endParaRPr lang="en-US" sz="85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36EDE60E-D0B9-232B-527C-964B64975150}"/>
              </a:ext>
            </a:extLst>
          </p:cNvPr>
          <p:cNvSpPr/>
          <p:nvPr/>
        </p:nvSpPr>
        <p:spPr>
          <a:xfrm>
            <a:off x="5394960" y="2414016"/>
            <a:ext cx="324612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2 e 3 concentram 54,9% do volume total — supera o threshold de 50% adotado como limite em FIDCs de crédito estruturado.</a:t>
            </a:r>
            <a:endParaRPr lang="en-US" sz="9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05CE4A7-4B7F-D9C9-8125-C752FD89026C}"/>
              </a:ext>
            </a:extLst>
          </p:cNvPr>
          <p:cNvSpPr/>
          <p:nvPr/>
        </p:nvSpPr>
        <p:spPr>
          <a:xfrm>
            <a:off x="5394960" y="2928366"/>
            <a:ext cx="324612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Gestoras como Bradesco Asset e Kinea adotam tetos de 15–25% de exposição por convênio em carteiras de consignado.</a:t>
            </a:r>
            <a:endParaRPr lang="en-US" sz="9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626C8BA9-96AC-32B9-52A5-4B2F083ADFDD}"/>
              </a:ext>
            </a:extLst>
          </p:cNvPr>
          <p:cNvSpPr/>
          <p:nvPr/>
        </p:nvSpPr>
        <p:spPr>
          <a:xfrm>
            <a:off x="5394960" y="3442716"/>
            <a:ext cx="324612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alta concentração amplifica qualquer evento de crédito localizado nesses dois convênios para o fundo como um todo.</a:t>
            </a:r>
            <a:endParaRPr lang="en-US" sz="9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5BD2FAA2-DE23-BBD9-EC7C-87FB206A3EF3}"/>
              </a:ext>
            </a:extLst>
          </p:cNvPr>
          <p:cNvSpPr/>
          <p:nvPr/>
        </p:nvSpPr>
        <p:spPr>
          <a:xfrm>
            <a:off x="5394960" y="3957066"/>
            <a:ext cx="3246120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HHI da carteira indica diversificação insuficiente pelo critério de concentração de sacado.</a:t>
            </a:r>
            <a:endParaRPr lang="en-US" sz="900" dirty="0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640ADD62-ABE7-C769-3926-A19EA5949F35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E57AF623-BE2D-5A34-A571-030346BA80CF}"/>
              </a:ext>
            </a:extLst>
          </p:cNvPr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TAXA MÉDIA DA CARTEIRA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 Ponderada por Convênio (% a.m.)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0058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309360" y="10972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TAXA VS. MERCADO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309360" y="1389888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total ponderada de 1,84% a.m. (≈22,1% a.a.) — calculada pelo valor de aquisição das parcelas, refletindo o retorno real do capital alocado.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09360" y="2160270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Focus (BCB, Jan/2026): SELIC projetada em 13,75% a.a. (≈1,08% a.m.), criando prêmio de apenas ~76bps sobre o risk-free — insuficiente para cobrir o risco de crédito observado.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30652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Gestoras como Itaú Asset e Kinea precificam carteiras de consignado com spread mínimo de 300–500bps sobre CDI para absorver inadimplência esperada de 5–8%.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3701034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3 possui a maior taxa (1,90%) mas também a maior inadimplência (19,47%) — desequilíbrio estrutural que elimina qualquer ganho de spread.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91347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TAXA MÉDIA DA CARTEIRA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Taxa Média × Inadimplência × Spread por Convênio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51129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Convênio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Média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Inadimplência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Est.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-17,57%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-17,04%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SAUDÁVEL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SAUDÁVEL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902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estimado = Taxa Média − Inadimplência Cash. Valores negativos indicam destruição de valor. Conv. 3 e 10 em situação crítica com spread negativo superior a 17 p.p.</a:t>
            </a:r>
            <a:endParaRPr lang="en-US" sz="800" dirty="0"/>
          </a:p>
        </p:txBody>
      </p:sp>
      <p:sp>
        <p:nvSpPr>
          <p:cNvPr id="5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INADIMPLÊNCIA CASH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Cash por Mês de Vencimento — 2025 (%)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0058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309360" y="10972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RUPTURA EM AGO/2025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309360" y="1389888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salta de 11,4% (Jul/25) para 35,8% (Ago/25) — ruptura de +213% em um único mês, comportamento estrutural, não estocástico.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09360" y="2160270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com vencimento Ago–Dez/2025 mantêm inadimplência estabilizada acima de 34%, confirmando inadimplência crônica nessas safras.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30652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cash = 1 − (pago / a receber): captura impacto direto no fluxo de caixa, metodologia alinhada à ANBIMA e gestoras de FIDC.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3701034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Bradesco Asset (Carta a Cotistas, 2025): carteiras consignadas saudáveis operam com inad. cash abaixo de 5–7%. O nível de 11% global exige intervenção imediata.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INADIMPLÊNCIA CASH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Cash por Safra de Aquisição (%)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0058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309360" y="10972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POR SAFRA (VINTAGE ANALYSIS)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309360" y="1389888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 Out/22 com inad. de 19,7% — alta atribuída ao pequeno volume e maior concentração de risco.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09360" y="2160270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Safras Mar/23 (16,4%) e Jun/23 (11,9%) acima da média, sinalizando problemas pontuais de originação.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930652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Safras Jul–Set/23 com inad. abaixo da média (6–10%) — período de maior qualidade de crédito da carteira.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3701034"/>
            <a:ext cx="233172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Safras Jan/24 (15,0%) e Fev/24 (15,4%) com deterioração relevante — padrão consistente com degradação da política de concessão no início de 2024.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IDENTIFICAÇÃO DO 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 Temporalidade da Deterioração de Spread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0058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309360" y="10972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CAUSAL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237744" cy="219456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309360" y="141732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592824" y="1417320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problema?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16733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Convênios 3 e 10 são os principais detratores. Representam 30,2% do volume e geram spread negativo superior a 17 p.p., inviabilizando o retorno do fundo.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09360" y="214884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309360" y="2185416"/>
            <a:ext cx="237744" cy="219456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309360" y="218541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592824" y="2185416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começou?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09360" y="24414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Deterioração se intensifica nas safras Jan–Mar/2024. Estresse máximo nos vencimentos de Ago–Dez/2025 (34–36%).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309360" y="2916936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309360" y="2953512"/>
            <a:ext cx="237744" cy="219456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309360" y="29535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592824" y="2953512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causa provável?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309360" y="320954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Coincidência com aumento da SELIC e endurecimento do crédito no BCB — migração de tomadores de menor qualidade para o canal consignado.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309360" y="3685032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6309360" y="3721608"/>
            <a:ext cx="237744" cy="219456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309360" y="37216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592824" y="3721608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no Fundo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309360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11 convênios com spread negativo. Taxa de 1,84% a.m. insuficiente para cobrir a inadimplência média de 11,0%.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IDENTIFICAÇÃO DO 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Estimado por Convênio: Taxa Média − Inadimplência (p.p.)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908285429"/>
              </p:ext>
            </p:extLst>
          </p:nvPr>
        </p:nvGraphicFramePr>
        <p:xfrm>
          <a:off x="365760" y="1005840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00584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172200" y="1005840"/>
            <a:ext cx="260604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309360" y="10972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SPREAD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233172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45720" cy="5669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09944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9944" y="174650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Convênios com spread negativo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09360" y="2039112"/>
            <a:ext cx="233172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309360" y="2039112"/>
            <a:ext cx="45720" cy="5669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09944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-17,57 p.p.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9944" y="23682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3 — pior spread da carteira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9360" y="2660904"/>
            <a:ext cx="233172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6309360" y="2660904"/>
            <a:ext cx="45720" cy="5669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409944" y="27066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-17,04 p.p.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09944" y="29900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10 — 2° pior spread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309360" y="3282696"/>
            <a:ext cx="233172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309360" y="3282696"/>
            <a:ext cx="45720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409944" y="3328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-6,83 p.p.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09944" y="3611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2 — maior volume (28,3%)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309360" y="3904488"/>
            <a:ext cx="233172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6309360" y="3904488"/>
            <a:ext cx="45720" cy="566928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409944" y="3950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+1,44 p.p.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09944" y="42336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7 — único spread robusto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E RECOMENDAÇÕES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para Recuperação do Spread e Proteção do Capital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02920" cy="181051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93008" y="1124712"/>
            <a:ext cx="868680" cy="2011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93008" y="112471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 (D+0)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960120" y="112471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Suspensão — Convênios 3 e 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508760"/>
            <a:ext cx="34015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Interromper novas originações até inad. abaixo de 5%.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intensiva D+15 e D+30 para ativos vencidos.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LTV e Score; implementar covenants com gatilho de 8%.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502920" cy="1810512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17099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90688" y="1124712"/>
            <a:ext cx="868680" cy="201168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90688" y="112471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dias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257800" y="112471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 de Ativos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508760"/>
            <a:ext cx="34015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Renegociação para safras Jan–Fev/2024 com recuperação do principal.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plataforma especializada em consignado (padrão RBR/Kinea).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Duration e Mark-to-Market quinzenalmente com base no VP.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953512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65760" y="2953512"/>
            <a:ext cx="502920" cy="18105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93008" y="3026664"/>
            <a:ext cx="86868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493008" y="30266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dias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60120" y="302666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Capital e Funding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3410712"/>
            <a:ext cx="34015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emissão de cotas subordinadas para Credit Enhancement.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debêntures com garantias reais para alongar passivo.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trigger de amortização antecipada por inadimplência.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953512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663440" y="2953512"/>
            <a:ext cx="502920" cy="181051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63440" y="3611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790688" y="3026664"/>
            <a:ext cx="868680" cy="201168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790688" y="30266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257800" y="302666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Monitoramento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410712"/>
            <a:ext cx="34015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Analysis quinzenal ao Comitê de Investimentos.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(EWS) com alertas por safra e convênio.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trimestral frente ao índice de consignado do BCB.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20040" y="2560320"/>
            <a:ext cx="8503920" cy="18288"/>
          </a:xfrm>
          <a:prstGeom prst="rect">
            <a:avLst/>
          </a:prstGeom>
          <a:solidFill>
            <a:srgbClr val="C9973B"/>
          </a:solidFill>
          <a:ln w="12700">
            <a:solidFill>
              <a:srgbClr val="C997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kern="0" spc="400" dirty="0">
                <a:solidFill>
                  <a:srgbClr val="C9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Dados</a:t>
            </a:r>
            <a:endParaRPr lang="en-US" sz="1100" i="1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</a:t>
            </a:r>
            <a:endParaRPr lang="en-US" sz="4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foi conduzida com base nos dados primários da carteira de crédito pessoal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consignado, utilizando metodologias alinhadas às melhores práticas do setor de gestão de ativos.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E36"/>
          </a:solidFill>
          <a:ln w="12700">
            <a:solidFill>
              <a:srgbClr val="111E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0040" y="48234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00" i="1" dirty="0">
                <a:solidFill>
                  <a:srgbClr val="C99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Documento de Modelo e Simulação — Sujeito a alterações; Não utilizar como 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1731</Words>
  <Application>Microsoft Office PowerPoint</Application>
  <PresentationFormat>Apresentação na tela (16:9)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Estratégico de Crédito – Guardian Gestora</dc:title>
  <dc:subject>PptxGenJS Presentation</dc:subject>
  <dc:creator>PptxGenJS</dc:creator>
  <cp:lastModifiedBy>Gustavo Alves</cp:lastModifiedBy>
  <cp:revision>2</cp:revision>
  <dcterms:created xsi:type="dcterms:W3CDTF">2026-04-19T19:47:37Z</dcterms:created>
  <dcterms:modified xsi:type="dcterms:W3CDTF">2026-04-19T21:43:25Z</dcterms:modified>
</cp:coreProperties>
</file>